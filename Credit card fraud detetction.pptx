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12"/>
  </p:notesMasterIdLst>
  <p:sldIdLst>
    <p:sldId id="256" r:id="rId2"/>
    <p:sldId id="269" r:id="rId3"/>
    <p:sldId id="271" r:id="rId4"/>
    <p:sldId id="259" r:id="rId5"/>
    <p:sldId id="261" r:id="rId6"/>
    <p:sldId id="263" r:id="rId7"/>
    <p:sldId id="270" r:id="rId8"/>
    <p:sldId id="272" r:id="rId9"/>
    <p:sldId id="264" r:id="rId10"/>
    <p:sldId id="273"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CC543A-B74F-4F65-8A57-3593B719AD08}" v="13" dt="2023-11-01T14:08:42.7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94660"/>
  </p:normalViewPr>
  <p:slideViewPr>
    <p:cSldViewPr snapToGrid="0">
      <p:cViewPr>
        <p:scale>
          <a:sx n="75" d="100"/>
          <a:sy n="75" d="100"/>
        </p:scale>
        <p:origin x="360" y="-3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CEE10F-BAA8-4634-B7F7-AEC967A64502}" type="datetimeFigureOut">
              <a:rPr lang="en-US" smtClean="0"/>
              <a:t>2/28/2026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42CDCE-1255-4C08-845D-7833BFBBD5A6}" type="slidenum">
              <a:rPr lang="en-US" smtClean="0"/>
              <a:t>‹#›</a:t>
            </a:fld>
            <a:endParaRPr lang="en-US"/>
          </a:p>
        </p:txBody>
      </p:sp>
    </p:spTree>
    <p:extLst>
      <p:ext uri="{BB962C8B-B14F-4D97-AF65-F5344CB8AC3E}">
        <p14:creationId xmlns:p14="http://schemas.microsoft.com/office/powerpoint/2010/main" val="4214041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1F38B5EB-E661-40A1-A753-2118D6E3CDA9}" type="datetimeFigureOut">
              <a:rPr lang="en-US" smtClean="0"/>
              <a:t>2/28/2026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CFCF02E6-16FD-4214-A7F4-158C42318BAA}" type="slidenum">
              <a:rPr lang="en-US" smtClean="0"/>
              <a:t>‹#›</a:t>
            </a:fld>
            <a:endParaRPr lang="en-US"/>
          </a:p>
        </p:txBody>
      </p:sp>
    </p:spTree>
    <p:extLst>
      <p:ext uri="{BB962C8B-B14F-4D97-AF65-F5344CB8AC3E}">
        <p14:creationId xmlns:p14="http://schemas.microsoft.com/office/powerpoint/2010/main" val="3291759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38B5EB-E661-40A1-A753-2118D6E3CDA9}"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202053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F38B5EB-E661-40A1-A753-2118D6E3CDA9}" type="datetimeFigureOut">
              <a:rPr lang="en-US" smtClean="0"/>
              <a:t>2/28/2026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CFCF02E6-16FD-4214-A7F4-158C42318BAA}" type="slidenum">
              <a:rPr lang="en-US" smtClean="0"/>
              <a:t>‹#›</a:t>
            </a:fld>
            <a:endParaRPr lang="en-US"/>
          </a:p>
        </p:txBody>
      </p:sp>
    </p:spTree>
    <p:extLst>
      <p:ext uri="{BB962C8B-B14F-4D97-AF65-F5344CB8AC3E}">
        <p14:creationId xmlns:p14="http://schemas.microsoft.com/office/powerpoint/2010/main" val="1146935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F38B5EB-E661-40A1-A753-2118D6E3CDA9}" type="datetimeFigureOut">
              <a:rPr lang="en-US" smtClean="0"/>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18694009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F38B5EB-E661-40A1-A753-2118D6E3CDA9}" type="datetimeFigureOut">
              <a:rPr lang="en-US" smtClean="0"/>
              <a:t>2/28/2026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36033682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38B5EB-E661-40A1-A753-2118D6E3CDA9}" type="datetimeFigureOut">
              <a:rPr lang="en-US" smtClean="0"/>
              <a:t>2/28/2026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1662015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38B5EB-E661-40A1-A753-2118D6E3CDA9}" type="datetimeFigureOut">
              <a:rPr lang="en-US" smtClean="0"/>
              <a:t>2/28/2026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3220027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1F38B5EB-E661-40A1-A753-2118D6E3CDA9}" type="datetimeFigureOut">
              <a:rPr lang="en-US" smtClean="0"/>
              <a:t>2/28/2026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CFCF02E6-16FD-4214-A7F4-158C42318BAA}" type="slidenum">
              <a:rPr lang="en-US" smtClean="0"/>
              <a:t>‹#›</a:t>
            </a:fld>
            <a:endParaRPr lang="en-US"/>
          </a:p>
        </p:txBody>
      </p:sp>
    </p:spTree>
    <p:extLst>
      <p:ext uri="{BB962C8B-B14F-4D97-AF65-F5344CB8AC3E}">
        <p14:creationId xmlns:p14="http://schemas.microsoft.com/office/powerpoint/2010/main" val="22372314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38B5EB-E661-40A1-A753-2118D6E3CDA9}" type="datetimeFigureOut">
              <a:rPr lang="en-US" smtClean="0"/>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17338994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38B5EB-E661-40A1-A753-2118D6E3CDA9}"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2760883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1F38B5EB-E661-40A1-A753-2118D6E3CDA9}" type="datetimeFigureOut">
              <a:rPr lang="en-US" smtClean="0"/>
              <a:t>2/28/2026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CFCF02E6-16FD-4214-A7F4-158C42318BAA}" type="slidenum">
              <a:rPr lang="en-US" smtClean="0"/>
              <a:t>‹#›</a:t>
            </a:fld>
            <a:endParaRPr lang="en-US"/>
          </a:p>
        </p:txBody>
      </p:sp>
    </p:spTree>
    <p:extLst>
      <p:ext uri="{BB962C8B-B14F-4D97-AF65-F5344CB8AC3E}">
        <p14:creationId xmlns:p14="http://schemas.microsoft.com/office/powerpoint/2010/main" val="4102777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1F38B5EB-E661-40A1-A753-2118D6E3CDA9}" type="datetimeFigureOut">
              <a:rPr lang="en-US" smtClean="0"/>
              <a:t>2/28/2026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CFCF02E6-16FD-4214-A7F4-158C42318BAA}"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095929309"/>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055D263-D347-8D9A-E88E-8794B81F34F7}"/>
              </a:ext>
            </a:extLst>
          </p:cNvPr>
          <p:cNvSpPr>
            <a:spLocks noGrp="1"/>
          </p:cNvSpPr>
          <p:nvPr>
            <p:ph type="ctrTitle"/>
          </p:nvPr>
        </p:nvSpPr>
        <p:spPr>
          <a:xfrm>
            <a:off x="1089331" y="832895"/>
            <a:ext cx="10013336" cy="3281453"/>
          </a:xfrm>
        </p:spPr>
        <p:txBody>
          <a:bodyPr>
            <a:normAutofit/>
          </a:bodyPr>
          <a:lstStyle/>
          <a:p>
            <a:pPr algn="ctr"/>
            <a:r>
              <a:rPr lang="en-US" sz="4000" dirty="0"/>
              <a:t> Credit Card Fraud Detection</a:t>
            </a:r>
            <a:br>
              <a:rPr lang="en-US" sz="4000" dirty="0"/>
            </a:br>
            <a:r>
              <a:rPr lang="en-US" sz="4000" dirty="0"/>
              <a:t> using </a:t>
            </a:r>
            <a:r>
              <a:rPr lang="en-US" sz="4000" dirty="0" err="1"/>
              <a:t>ctgan</a:t>
            </a:r>
            <a:br>
              <a:rPr lang="en-US" sz="4000" dirty="0"/>
            </a:br>
            <a:br>
              <a:rPr lang="en-US" sz="4000" dirty="0"/>
            </a:br>
            <a:br>
              <a:rPr lang="en-US" dirty="0"/>
            </a:br>
            <a:r>
              <a:rPr lang="en-US" dirty="0"/>
              <a:t>                      </a:t>
            </a:r>
          </a:p>
        </p:txBody>
      </p:sp>
      <p:sp>
        <p:nvSpPr>
          <p:cNvPr id="7" name="Subtitle 6">
            <a:extLst>
              <a:ext uri="{FF2B5EF4-FFF2-40B4-BE49-F238E27FC236}">
                <a16:creationId xmlns:a16="http://schemas.microsoft.com/office/drawing/2014/main" id="{C5455D1F-D8A4-E6B1-E17A-28C89F585869}"/>
              </a:ext>
            </a:extLst>
          </p:cNvPr>
          <p:cNvSpPr>
            <a:spLocks noGrp="1"/>
          </p:cNvSpPr>
          <p:nvPr>
            <p:ph type="subTitle" idx="1"/>
          </p:nvPr>
        </p:nvSpPr>
        <p:spPr>
          <a:xfrm>
            <a:off x="1307183" y="3555548"/>
            <a:ext cx="4905080" cy="2056516"/>
          </a:xfrm>
        </p:spPr>
        <p:txBody>
          <a:bodyPr>
            <a:normAutofit/>
          </a:bodyPr>
          <a:lstStyle/>
          <a:p>
            <a:br>
              <a:rPr lang="en-US" dirty="0"/>
            </a:br>
            <a:endParaRPr lang="en-US" dirty="0"/>
          </a:p>
        </p:txBody>
      </p:sp>
      <p:graphicFrame>
        <p:nvGraphicFramePr>
          <p:cNvPr id="2" name="Table 1">
            <a:extLst>
              <a:ext uri="{FF2B5EF4-FFF2-40B4-BE49-F238E27FC236}">
                <a16:creationId xmlns:a16="http://schemas.microsoft.com/office/drawing/2014/main" id="{BBE0C07E-46AF-F352-FE43-870AD84B41E5}"/>
              </a:ext>
            </a:extLst>
          </p:cNvPr>
          <p:cNvGraphicFramePr>
            <a:graphicFrameLocks noGrp="1"/>
          </p:cNvGraphicFramePr>
          <p:nvPr>
            <p:extLst>
              <p:ext uri="{D42A27DB-BD31-4B8C-83A1-F6EECF244321}">
                <p14:modId xmlns:p14="http://schemas.microsoft.com/office/powerpoint/2010/main" val="2967175569"/>
              </p:ext>
            </p:extLst>
          </p:nvPr>
        </p:nvGraphicFramePr>
        <p:xfrm>
          <a:off x="1391263" y="3429000"/>
          <a:ext cx="9409472" cy="2596105"/>
        </p:xfrm>
        <a:graphic>
          <a:graphicData uri="http://schemas.openxmlformats.org/drawingml/2006/table">
            <a:tbl>
              <a:tblPr firstRow="1" bandRow="1">
                <a:tableStyleId>{5C22544A-7EE6-4342-B048-85BDC9FD1C3A}</a:tableStyleId>
              </a:tblPr>
              <a:tblGrid>
                <a:gridCol w="4704736">
                  <a:extLst>
                    <a:ext uri="{9D8B030D-6E8A-4147-A177-3AD203B41FA5}">
                      <a16:colId xmlns:a16="http://schemas.microsoft.com/office/drawing/2014/main" val="1794836943"/>
                    </a:ext>
                  </a:extLst>
                </a:gridCol>
                <a:gridCol w="4704736">
                  <a:extLst>
                    <a:ext uri="{9D8B030D-6E8A-4147-A177-3AD203B41FA5}">
                      <a16:colId xmlns:a16="http://schemas.microsoft.com/office/drawing/2014/main" val="1014909029"/>
                    </a:ext>
                  </a:extLst>
                </a:gridCol>
              </a:tblGrid>
              <a:tr h="519221">
                <a:tc>
                  <a:txBody>
                    <a:bodyPr/>
                    <a:lstStyle/>
                    <a:p>
                      <a:r>
                        <a:rPr lang="en-IN" dirty="0"/>
                        <a:t>REG ID</a:t>
                      </a:r>
                    </a:p>
                  </a:txBody>
                  <a:tcPr/>
                </a:tc>
                <a:tc>
                  <a:txBody>
                    <a:bodyPr/>
                    <a:lstStyle/>
                    <a:p>
                      <a:r>
                        <a:rPr lang="en-IN" dirty="0"/>
                        <a:t>NAME</a:t>
                      </a:r>
                    </a:p>
                  </a:txBody>
                  <a:tcPr/>
                </a:tc>
                <a:extLst>
                  <a:ext uri="{0D108BD9-81ED-4DB2-BD59-A6C34878D82A}">
                    <a16:rowId xmlns:a16="http://schemas.microsoft.com/office/drawing/2014/main" val="1851084068"/>
                  </a:ext>
                </a:extLst>
              </a:tr>
              <a:tr h="519221">
                <a:tc>
                  <a:txBody>
                    <a:bodyPr/>
                    <a:lstStyle/>
                    <a:p>
                      <a:r>
                        <a:rPr lang="en-IN" dirty="0"/>
                        <a:t>2300090154</a:t>
                      </a:r>
                    </a:p>
                  </a:txBody>
                  <a:tcPr/>
                </a:tc>
                <a:tc>
                  <a:txBody>
                    <a:bodyPr/>
                    <a:lstStyle/>
                    <a:p>
                      <a:r>
                        <a:rPr lang="en-IN" dirty="0"/>
                        <a:t>K SAI NITHEESH</a:t>
                      </a:r>
                    </a:p>
                  </a:txBody>
                  <a:tcPr/>
                </a:tc>
                <a:extLst>
                  <a:ext uri="{0D108BD9-81ED-4DB2-BD59-A6C34878D82A}">
                    <a16:rowId xmlns:a16="http://schemas.microsoft.com/office/drawing/2014/main" val="3361195094"/>
                  </a:ext>
                </a:extLst>
              </a:tr>
              <a:tr h="519221">
                <a:tc>
                  <a:txBody>
                    <a:bodyPr/>
                    <a:lstStyle/>
                    <a:p>
                      <a:r>
                        <a:rPr lang="en-IN" dirty="0"/>
                        <a:t>2300080069</a:t>
                      </a:r>
                    </a:p>
                  </a:txBody>
                  <a:tcPr/>
                </a:tc>
                <a:tc>
                  <a:txBody>
                    <a:bodyPr/>
                    <a:lstStyle/>
                    <a:p>
                      <a:r>
                        <a:rPr lang="en-IN" dirty="0"/>
                        <a:t>A MEENA SAMEERA</a:t>
                      </a:r>
                    </a:p>
                  </a:txBody>
                  <a:tcPr/>
                </a:tc>
                <a:extLst>
                  <a:ext uri="{0D108BD9-81ED-4DB2-BD59-A6C34878D82A}">
                    <a16:rowId xmlns:a16="http://schemas.microsoft.com/office/drawing/2014/main" val="3295294992"/>
                  </a:ext>
                </a:extLst>
              </a:tr>
              <a:tr h="519221">
                <a:tc>
                  <a:txBody>
                    <a:bodyPr/>
                    <a:lstStyle/>
                    <a:p>
                      <a:r>
                        <a:rPr lang="en-IN" dirty="0"/>
                        <a:t>2300080276</a:t>
                      </a:r>
                    </a:p>
                  </a:txBody>
                  <a:tcPr/>
                </a:tc>
                <a:tc>
                  <a:txBody>
                    <a:bodyPr/>
                    <a:lstStyle/>
                    <a:p>
                      <a:r>
                        <a:rPr lang="en-IN" dirty="0"/>
                        <a:t>N J SRINIVASA SAI</a:t>
                      </a:r>
                    </a:p>
                  </a:txBody>
                  <a:tcPr/>
                </a:tc>
                <a:extLst>
                  <a:ext uri="{0D108BD9-81ED-4DB2-BD59-A6C34878D82A}">
                    <a16:rowId xmlns:a16="http://schemas.microsoft.com/office/drawing/2014/main" val="714332524"/>
                  </a:ext>
                </a:extLst>
              </a:tr>
              <a:tr h="519221">
                <a:tc>
                  <a:txBody>
                    <a:bodyPr/>
                    <a:lstStyle/>
                    <a:p>
                      <a:r>
                        <a:rPr lang="en-IN" dirty="0"/>
                        <a:t>2300080351</a:t>
                      </a:r>
                    </a:p>
                  </a:txBody>
                  <a:tcPr/>
                </a:tc>
                <a:tc>
                  <a:txBody>
                    <a:bodyPr/>
                    <a:lstStyle/>
                    <a:p>
                      <a:r>
                        <a:rPr lang="en-IN" dirty="0"/>
                        <a:t>CH PARDHU SADHVIK</a:t>
                      </a:r>
                    </a:p>
                  </a:txBody>
                  <a:tcPr/>
                </a:tc>
                <a:extLst>
                  <a:ext uri="{0D108BD9-81ED-4DB2-BD59-A6C34878D82A}">
                    <a16:rowId xmlns:a16="http://schemas.microsoft.com/office/drawing/2014/main" val="2496381496"/>
                  </a:ext>
                </a:extLst>
              </a:tr>
            </a:tbl>
          </a:graphicData>
        </a:graphic>
      </p:graphicFrame>
    </p:spTree>
    <p:extLst>
      <p:ext uri="{BB962C8B-B14F-4D97-AF65-F5344CB8AC3E}">
        <p14:creationId xmlns:p14="http://schemas.microsoft.com/office/powerpoint/2010/main" val="274840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8D024-5510-1600-EB71-8F86239ACF93}"/>
              </a:ext>
            </a:extLst>
          </p:cNvPr>
          <p:cNvSpPr>
            <a:spLocks noGrp="1"/>
          </p:cNvSpPr>
          <p:nvPr>
            <p:ph type="title"/>
          </p:nvPr>
        </p:nvSpPr>
        <p:spPr/>
        <p:txBody>
          <a:bodyPr/>
          <a:lstStyle/>
          <a:p>
            <a:r>
              <a:rPr lang="en-IN" dirty="0"/>
              <a:t>abstract</a:t>
            </a:r>
          </a:p>
        </p:txBody>
      </p:sp>
      <p:sp>
        <p:nvSpPr>
          <p:cNvPr id="3" name="Content Placeholder 2">
            <a:extLst>
              <a:ext uri="{FF2B5EF4-FFF2-40B4-BE49-F238E27FC236}">
                <a16:creationId xmlns:a16="http://schemas.microsoft.com/office/drawing/2014/main" id="{7FEE2DB6-A15D-E83D-0ACD-5131E8A1A0D6}"/>
              </a:ext>
            </a:extLst>
          </p:cNvPr>
          <p:cNvSpPr>
            <a:spLocks noGrp="1"/>
          </p:cNvSpPr>
          <p:nvPr>
            <p:ph idx="1"/>
          </p:nvPr>
        </p:nvSpPr>
        <p:spPr>
          <a:xfrm>
            <a:off x="581192" y="1809136"/>
            <a:ext cx="11029615" cy="4955458"/>
          </a:xfrm>
        </p:spPr>
        <p:txBody>
          <a:bodyPr>
            <a:normAutofit/>
          </a:bodyPr>
          <a:lstStyle/>
          <a:p>
            <a:pPr algn="just"/>
            <a:r>
              <a:rPr lang="en-US" sz="2000" b="1" dirty="0"/>
              <a:t>Problem Statement:</a:t>
            </a:r>
            <a:r>
              <a:rPr lang="en-US" sz="2000" dirty="0"/>
              <a:t> Credit card fraud detection suffers from extreme class imbalance, where fraudulent transactions are very rare compared to legitimate ones, reducing the effectiveness of traditional machine learning models</a:t>
            </a:r>
          </a:p>
          <a:p>
            <a:pPr algn="just"/>
            <a:r>
              <a:rPr lang="en-US" sz="2000" b="1" dirty="0"/>
              <a:t>Proposed Method:</a:t>
            </a:r>
            <a:r>
              <a:rPr lang="en-US" sz="2000" dirty="0"/>
              <a:t> A Conditional Tabular GAN (CTGAN) is trained on real fraud samples to generate synthetic fraudulent transactions, which are combined with the original data to balance the dataset before training a Random Forest classifier.</a:t>
            </a:r>
          </a:p>
          <a:p>
            <a:pPr algn="just"/>
            <a:r>
              <a:rPr lang="en-US" sz="2000" b="1" dirty="0"/>
              <a:t>Results &amp; Impact:</a:t>
            </a:r>
            <a:r>
              <a:rPr lang="en-US" sz="2000" dirty="0"/>
              <a:t> The augmented dataset improves fraud detection performance, as demonstrated by classification metrics and ROC-AUC score, showing that synthetic data generation effectively enhances minority class prediction while maintaining computational efficiency.</a:t>
            </a:r>
          </a:p>
          <a:p>
            <a:pPr algn="just"/>
            <a:endParaRPr lang="en-IN" sz="2000" dirty="0"/>
          </a:p>
        </p:txBody>
      </p:sp>
    </p:spTree>
    <p:extLst>
      <p:ext uri="{BB962C8B-B14F-4D97-AF65-F5344CB8AC3E}">
        <p14:creationId xmlns:p14="http://schemas.microsoft.com/office/powerpoint/2010/main" val="2487076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555AF-584C-3D96-17DB-7A63DD6197A1}"/>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CE730982-4A19-F3E4-21C5-E0B4C98F2F14}"/>
              </a:ext>
            </a:extLst>
          </p:cNvPr>
          <p:cNvSpPr>
            <a:spLocks noGrp="1"/>
          </p:cNvSpPr>
          <p:nvPr>
            <p:ph idx="1"/>
          </p:nvPr>
        </p:nvSpPr>
        <p:spPr/>
        <p:txBody>
          <a:bodyPr/>
          <a:lstStyle/>
          <a:p>
            <a:pPr algn="just"/>
            <a:r>
              <a:rPr lang="en-US" sz="2400" dirty="0"/>
              <a:t>The rapid growth of digital payment systems and online banking has significantly increased the volume of credit card transactions worldwide. While this advancement has improved financial convenience, it has also led to a rise in fraudulent activities. Credit card fraud detection has therefore become a critical task for financial institutions to minimize financial losses and ensure customer security. However, detecting fraudulent transactions remains challenging due to the highly imbalanced nature of real-world datasets, where fraudulent cases represent only a very small percentage of total transactions.</a:t>
            </a:r>
            <a:endParaRPr lang="en-US" sz="2200" dirty="0"/>
          </a:p>
          <a:p>
            <a:pPr algn="just"/>
            <a:endParaRPr lang="en-IN" dirty="0"/>
          </a:p>
        </p:txBody>
      </p:sp>
    </p:spTree>
    <p:extLst>
      <p:ext uri="{BB962C8B-B14F-4D97-AF65-F5344CB8AC3E}">
        <p14:creationId xmlns:p14="http://schemas.microsoft.com/office/powerpoint/2010/main" val="3838479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D3098-9BB2-6C02-78D8-7CD7FB6BAF96}"/>
              </a:ext>
            </a:extLst>
          </p:cNvPr>
          <p:cNvSpPr>
            <a:spLocks noGrp="1"/>
          </p:cNvSpPr>
          <p:nvPr>
            <p:ph type="title"/>
          </p:nvPr>
        </p:nvSpPr>
        <p:spPr/>
        <p:txBody>
          <a:bodyPr/>
          <a:lstStyle/>
          <a:p>
            <a:r>
              <a:rPr lang="en-US" dirty="0"/>
              <a:t>Data set Description</a:t>
            </a:r>
          </a:p>
        </p:txBody>
      </p:sp>
      <p:sp>
        <p:nvSpPr>
          <p:cNvPr id="3" name="Content Placeholder 2">
            <a:extLst>
              <a:ext uri="{FF2B5EF4-FFF2-40B4-BE49-F238E27FC236}">
                <a16:creationId xmlns:a16="http://schemas.microsoft.com/office/drawing/2014/main" id="{0CD1FEB3-ECE6-874D-001D-03492044CA62}"/>
              </a:ext>
            </a:extLst>
          </p:cNvPr>
          <p:cNvSpPr>
            <a:spLocks noGrp="1"/>
          </p:cNvSpPr>
          <p:nvPr>
            <p:ph idx="1"/>
          </p:nvPr>
        </p:nvSpPr>
        <p:spPr>
          <a:xfrm>
            <a:off x="838200" y="3726426"/>
            <a:ext cx="10515600" cy="1219200"/>
          </a:xfrm>
        </p:spPr>
        <p:txBody>
          <a:bodyPr>
            <a:noAutofit/>
          </a:bodyPr>
          <a:lstStyle/>
          <a:p>
            <a:pPr algn="just"/>
            <a:r>
              <a:rPr lang="en-US" sz="2000" b="1" dirty="0">
                <a:latin typeface="+mj-lt"/>
                <a:cs typeface="Times New Roman" panose="02020603050405020304" pitchFamily="18" charset="0"/>
              </a:rPr>
              <a:t>Data Description: </a:t>
            </a:r>
            <a:r>
              <a:rPr lang="en-US" sz="2000" dirty="0"/>
              <a:t>The dataset used in this study is the </a:t>
            </a:r>
            <a:r>
              <a:rPr lang="en-US" sz="2000" b="1" dirty="0"/>
              <a:t>Credit Card Fraud Detection dataset</a:t>
            </a:r>
            <a:r>
              <a:rPr lang="en-US" sz="2000" dirty="0"/>
              <a:t>, which contains real-world credit card transactions made by European cardholders.</a:t>
            </a:r>
          </a:p>
          <a:p>
            <a:pPr algn="just"/>
            <a:r>
              <a:rPr lang="en-US" sz="2000" b="1" dirty="0"/>
              <a:t>Dataset Overview</a:t>
            </a:r>
          </a:p>
          <a:p>
            <a:pPr lvl="1"/>
            <a:r>
              <a:rPr lang="en-US" sz="1800" dirty="0"/>
              <a:t>The dataset consists of </a:t>
            </a:r>
            <a:r>
              <a:rPr lang="en-US" sz="1800" b="1" dirty="0"/>
              <a:t>284,807 transactions</a:t>
            </a:r>
            <a:r>
              <a:rPr lang="en-US" sz="1800" dirty="0"/>
              <a:t>.</a:t>
            </a:r>
          </a:p>
          <a:p>
            <a:pPr lvl="1"/>
            <a:r>
              <a:rPr lang="en-US" sz="1800" dirty="0"/>
              <a:t>Among these, only </a:t>
            </a:r>
            <a:r>
              <a:rPr lang="en-US" sz="1800" b="1" dirty="0"/>
              <a:t>492 transactions are fraudulent</a:t>
            </a:r>
            <a:r>
              <a:rPr lang="en-US" sz="1800" dirty="0"/>
              <a:t>, making the dataset highly imbalanced.</a:t>
            </a:r>
          </a:p>
          <a:p>
            <a:r>
              <a:rPr lang="en-US" sz="2000" b="1" dirty="0"/>
              <a:t>Dataset Characteristics</a:t>
            </a:r>
          </a:p>
          <a:p>
            <a:pPr lvl="1"/>
            <a:r>
              <a:rPr lang="en-US" sz="1800" dirty="0"/>
              <a:t>All features are numerical.</a:t>
            </a:r>
          </a:p>
          <a:p>
            <a:pPr lvl="1"/>
            <a:r>
              <a:rPr lang="en-US" sz="1800" dirty="0"/>
              <a:t>No missing values are present.</a:t>
            </a:r>
          </a:p>
          <a:p>
            <a:pPr lvl="1"/>
            <a:r>
              <a:rPr lang="en-US" sz="1800" dirty="0"/>
              <a:t>Highly imbalanced class distribution.</a:t>
            </a:r>
            <a:endParaRPr lang="en-US" sz="2000" dirty="0">
              <a:latin typeface="Times New Roman" panose="02020603050405020304" pitchFamily="18" charset="0"/>
              <a:cs typeface="Times New Roman" panose="02020603050405020304" pitchFamily="18" charset="0"/>
            </a:endParaRPr>
          </a:p>
          <a:p>
            <a:pPr algn="just"/>
            <a:r>
              <a:rPr lang="fi-FI" sz="2000" b="1" dirty="0">
                <a:latin typeface="Times New Roman" panose="02020603050405020304" pitchFamily="18" charset="0"/>
                <a:cs typeface="Times New Roman" panose="02020603050405020304" pitchFamily="18" charset="0"/>
              </a:rPr>
              <a:t>Dataset : </a:t>
            </a:r>
            <a:r>
              <a:rPr lang="fi-FI" sz="2000" dirty="0">
                <a:latin typeface="Times New Roman" panose="02020603050405020304" pitchFamily="18" charset="0"/>
                <a:cs typeface="Times New Roman" panose="02020603050405020304" pitchFamily="18" charset="0"/>
              </a:rPr>
              <a:t>https://www.kaggle.com/datasets/mlg-ulb/creditcardfraud</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2142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54E45-43EA-4D2D-B5CE-9941D18858C2}"/>
              </a:ext>
            </a:extLst>
          </p:cNvPr>
          <p:cNvSpPr>
            <a:spLocks noGrp="1"/>
          </p:cNvSpPr>
          <p:nvPr>
            <p:ph type="title"/>
          </p:nvPr>
        </p:nvSpPr>
        <p:spPr>
          <a:xfrm>
            <a:off x="784860" y="395605"/>
            <a:ext cx="10515600" cy="861695"/>
          </a:xfrm>
        </p:spPr>
        <p:txBody>
          <a:bodyPr/>
          <a:lstStyle/>
          <a:p>
            <a:r>
              <a:rPr lang="en-US" dirty="0"/>
              <a:t>feature Analysis </a:t>
            </a:r>
          </a:p>
        </p:txBody>
      </p:sp>
      <p:sp>
        <p:nvSpPr>
          <p:cNvPr id="3" name="Content Placeholder 2">
            <a:extLst>
              <a:ext uri="{FF2B5EF4-FFF2-40B4-BE49-F238E27FC236}">
                <a16:creationId xmlns:a16="http://schemas.microsoft.com/office/drawing/2014/main" id="{D5C91206-4A3D-D277-081C-2DEC076C8F9F}"/>
              </a:ext>
            </a:extLst>
          </p:cNvPr>
          <p:cNvSpPr>
            <a:spLocks noGrp="1"/>
          </p:cNvSpPr>
          <p:nvPr>
            <p:ph idx="1"/>
          </p:nvPr>
        </p:nvSpPr>
        <p:spPr>
          <a:xfrm>
            <a:off x="530942" y="2092079"/>
            <a:ext cx="11218605" cy="3661692"/>
          </a:xfrm>
        </p:spPr>
        <p:txBody>
          <a:bodyPr>
            <a:normAutofit/>
          </a:bodyPr>
          <a:lstStyle/>
          <a:p>
            <a:pPr marL="0" indent="0" algn="just">
              <a:buNone/>
            </a:pPr>
            <a:r>
              <a:rPr lang="en-US" sz="2000" dirty="0"/>
              <a:t>The credit card transaction dataset consists of anonymized features (V1–V28), along with Time, Amount, and the target variable Class. The features V1–V28 are principal component analysis (PCA) transformed variables that capture underlying transaction patterns while preserving confidentiality. The Time feature represents the elapsed time between transactions, and Amount indicates the monetary value of each transaction. Statistical analysis shows that most PCA features are centered around zero, while transaction amounts vary significantly between legitimate and fraudulent transactions. Additionally, the dataset is highly imbalanced, with fraudulent cases representing only a small fraction of total transactions, which necessitates the use of synthetic data generation techniques to improve model performance.</a:t>
            </a:r>
          </a:p>
        </p:txBody>
      </p:sp>
    </p:spTree>
    <p:extLst>
      <p:ext uri="{BB962C8B-B14F-4D97-AF65-F5344CB8AC3E}">
        <p14:creationId xmlns:p14="http://schemas.microsoft.com/office/powerpoint/2010/main" val="2715021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6C492-59C0-4100-C5C2-40CAB17DB732}"/>
              </a:ext>
            </a:extLst>
          </p:cNvPr>
          <p:cNvSpPr>
            <a:spLocks noGrp="1"/>
          </p:cNvSpPr>
          <p:nvPr>
            <p:ph type="title"/>
          </p:nvPr>
        </p:nvSpPr>
        <p:spPr>
          <a:xfrm>
            <a:off x="838200" y="365125"/>
            <a:ext cx="10515600" cy="1014095"/>
          </a:xfrm>
        </p:spPr>
        <p:txBody>
          <a:bodyPr/>
          <a:lstStyle/>
          <a:p>
            <a:r>
              <a:rPr lang="en-US" dirty="0"/>
              <a:t>Methodology</a:t>
            </a:r>
          </a:p>
        </p:txBody>
      </p:sp>
      <p:sp>
        <p:nvSpPr>
          <p:cNvPr id="8" name="TextBox 7">
            <a:extLst>
              <a:ext uri="{FF2B5EF4-FFF2-40B4-BE49-F238E27FC236}">
                <a16:creationId xmlns:a16="http://schemas.microsoft.com/office/drawing/2014/main" id="{726CCDAB-C998-2B94-50FE-707E63E720B0}"/>
              </a:ext>
            </a:extLst>
          </p:cNvPr>
          <p:cNvSpPr txBox="1"/>
          <p:nvPr/>
        </p:nvSpPr>
        <p:spPr>
          <a:xfrm>
            <a:off x="481781" y="1857649"/>
            <a:ext cx="11277600" cy="4154984"/>
          </a:xfrm>
          <a:prstGeom prst="rect">
            <a:avLst/>
          </a:prstGeom>
          <a:noFill/>
        </p:spPr>
        <p:txBody>
          <a:bodyPr wrap="square">
            <a:spAutoFit/>
          </a:bodyPr>
          <a:lstStyle/>
          <a:p>
            <a:pPr marL="0" algn="just" rtl="0" eaLnBrk="1" latinLnBrk="0" hangingPunct="1">
              <a:buNone/>
            </a:pPr>
            <a:r>
              <a:rPr lang="en-US" sz="2400" b="1" u="sng" kern="1200" dirty="0">
                <a:solidFill>
                  <a:srgbClr val="000000"/>
                </a:solidFill>
                <a:effectLst/>
                <a:latin typeface="Gill Sans MT" panose="020B0502020104020203" pitchFamily="34" charset="0"/>
                <a:ea typeface="+mn-ea"/>
                <a:cs typeface="+mn-cs"/>
              </a:rPr>
              <a:t>Data collection:</a:t>
            </a:r>
            <a:endParaRPr lang="en-IN" sz="2400" dirty="0">
              <a:effectLst/>
            </a:endParaRPr>
          </a:p>
          <a:p>
            <a:pPr algn="just"/>
            <a:r>
              <a:rPr lang="en-US" sz="2400" dirty="0"/>
              <a:t>The credit card dataset is loaded, cleaned, and reduced in size for faster training. The data is split into training and testing sets using stratified sampling to maintain class balance.</a:t>
            </a:r>
          </a:p>
          <a:p>
            <a:pPr algn="just"/>
            <a:endParaRPr lang="en-IN" sz="2400" dirty="0">
              <a:effectLst/>
            </a:endParaRPr>
          </a:p>
          <a:p>
            <a:pPr algn="just"/>
            <a:r>
              <a:rPr lang="en-IN" sz="2400" b="1" u="sng" dirty="0"/>
              <a:t>Fraud Data Extraction:</a:t>
            </a:r>
          </a:p>
          <a:p>
            <a:pPr algn="just"/>
            <a:r>
              <a:rPr lang="en-US" sz="2400" dirty="0"/>
              <a:t>Fraudulent samples from the training set are separated to address the class imbalance problem.</a:t>
            </a:r>
          </a:p>
          <a:p>
            <a:pPr algn="just"/>
            <a:endParaRPr lang="en-US" sz="2400" dirty="0">
              <a:effectLst/>
            </a:endParaRPr>
          </a:p>
          <a:p>
            <a:pPr algn="just"/>
            <a:r>
              <a:rPr lang="en-IN" sz="2400" b="1" u="sng" dirty="0"/>
              <a:t>Synthetic Data Generation (CTGAN):</a:t>
            </a:r>
          </a:p>
          <a:p>
            <a:pPr algn="just"/>
            <a:r>
              <a:rPr lang="en-US" sz="2400" dirty="0"/>
              <a:t>A CTGAN model is trained only on real fraud samples to learn their distribution and generate synthetic fraudulent transactions.</a:t>
            </a:r>
            <a:endParaRPr lang="en-IN" sz="2400" b="1" u="sng" dirty="0">
              <a:effectLst/>
            </a:endParaRPr>
          </a:p>
        </p:txBody>
      </p:sp>
    </p:spTree>
    <p:extLst>
      <p:ext uri="{BB962C8B-B14F-4D97-AF65-F5344CB8AC3E}">
        <p14:creationId xmlns:p14="http://schemas.microsoft.com/office/powerpoint/2010/main" val="1375782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152ED-BB0E-8841-3FD9-8E7C54F01DC9}"/>
              </a:ext>
            </a:extLst>
          </p:cNvPr>
          <p:cNvSpPr>
            <a:spLocks noGrp="1"/>
          </p:cNvSpPr>
          <p:nvPr>
            <p:ph type="title"/>
          </p:nvPr>
        </p:nvSpPr>
        <p:spPr/>
        <p:txBody>
          <a:bodyPr/>
          <a:lstStyle/>
          <a:p>
            <a:r>
              <a:rPr lang="en-IN" dirty="0"/>
              <a:t>   </a:t>
            </a:r>
          </a:p>
        </p:txBody>
      </p:sp>
      <p:sp>
        <p:nvSpPr>
          <p:cNvPr id="3" name="Content Placeholder 2">
            <a:extLst>
              <a:ext uri="{FF2B5EF4-FFF2-40B4-BE49-F238E27FC236}">
                <a16:creationId xmlns:a16="http://schemas.microsoft.com/office/drawing/2014/main" id="{D7BAEEB8-43FB-3587-4FCA-3AADE80CA5C2}"/>
              </a:ext>
            </a:extLst>
          </p:cNvPr>
          <p:cNvSpPr>
            <a:spLocks noGrp="1"/>
          </p:cNvSpPr>
          <p:nvPr>
            <p:ph idx="1"/>
          </p:nvPr>
        </p:nvSpPr>
        <p:spPr>
          <a:xfrm>
            <a:off x="581192" y="2180496"/>
            <a:ext cx="11029615" cy="4485775"/>
          </a:xfrm>
        </p:spPr>
        <p:txBody>
          <a:bodyPr>
            <a:normAutofit fontScale="85000" lnSpcReduction="20000"/>
          </a:bodyPr>
          <a:lstStyle/>
          <a:p>
            <a:pPr marL="0" indent="0">
              <a:buNone/>
            </a:pPr>
            <a:r>
              <a:rPr lang="en-IN" sz="3200" b="1" u="sng" dirty="0"/>
              <a:t>Data Augmentation:</a:t>
            </a:r>
            <a:br>
              <a:rPr lang="en-US" sz="2900" dirty="0"/>
            </a:br>
            <a:r>
              <a:rPr lang="en-US" sz="3200" dirty="0"/>
              <a:t>The generated synthetic fraud samples are combined with the original training data to create a more balanced dataset.</a:t>
            </a:r>
            <a:endParaRPr lang="en-US" sz="2900" dirty="0"/>
          </a:p>
          <a:p>
            <a:pPr marL="0" indent="0">
              <a:buNone/>
            </a:pPr>
            <a:endParaRPr lang="en-US" sz="2900" dirty="0"/>
          </a:p>
          <a:p>
            <a:pPr marL="0" indent="0">
              <a:buNone/>
            </a:pPr>
            <a:r>
              <a:rPr lang="en-US" sz="2900" b="1" u="sng" dirty="0"/>
              <a:t>Model Training</a:t>
            </a:r>
            <a:br>
              <a:rPr lang="en-US" sz="2900" dirty="0"/>
            </a:br>
            <a:r>
              <a:rPr lang="en-US" sz="3200" dirty="0"/>
              <a:t>A Random Forest classifier is trained on the augmented dataset to improve fraud detection performance.</a:t>
            </a:r>
            <a:r>
              <a:rPr lang="en-US" sz="2900" dirty="0"/>
              <a:t>.</a:t>
            </a:r>
          </a:p>
          <a:p>
            <a:pPr marL="0" indent="0">
              <a:buNone/>
            </a:pPr>
            <a:endParaRPr lang="en-US" sz="2900" dirty="0"/>
          </a:p>
          <a:p>
            <a:pPr marL="0" indent="0">
              <a:buNone/>
            </a:pPr>
            <a:r>
              <a:rPr lang="en-US" sz="2900" b="1" u="sng" dirty="0"/>
              <a:t>Model Evaluation</a:t>
            </a:r>
            <a:br>
              <a:rPr lang="en-US" sz="2900" dirty="0"/>
            </a:br>
            <a:r>
              <a:rPr lang="en-US" sz="3200" dirty="0"/>
              <a:t>The model is evaluated using metrics such as classification report, confusion matrix, and ROC-AUC score on the test dataset.</a:t>
            </a:r>
            <a:endParaRPr lang="en-IN" dirty="0"/>
          </a:p>
        </p:txBody>
      </p:sp>
    </p:spTree>
    <p:extLst>
      <p:ext uri="{BB962C8B-B14F-4D97-AF65-F5344CB8AC3E}">
        <p14:creationId xmlns:p14="http://schemas.microsoft.com/office/powerpoint/2010/main" val="241548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38A5D-ED48-8DE0-2F3C-E115381B73A9}"/>
              </a:ext>
            </a:extLst>
          </p:cNvPr>
          <p:cNvSpPr>
            <a:spLocks noGrp="1"/>
          </p:cNvSpPr>
          <p:nvPr>
            <p:ph type="title"/>
          </p:nvPr>
        </p:nvSpPr>
        <p:spPr/>
        <p:txBody>
          <a:bodyPr/>
          <a:lstStyle/>
          <a:p>
            <a:r>
              <a:rPr lang="en-IN" dirty="0"/>
              <a:t>Flow chart</a:t>
            </a:r>
          </a:p>
        </p:txBody>
      </p:sp>
      <p:pic>
        <p:nvPicPr>
          <p:cNvPr id="16" name="Content Placeholder 15">
            <a:extLst>
              <a:ext uri="{FF2B5EF4-FFF2-40B4-BE49-F238E27FC236}">
                <a16:creationId xmlns:a16="http://schemas.microsoft.com/office/drawing/2014/main" id="{863D17DA-5189-052F-0890-548D792F9FB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92300" y="1863724"/>
            <a:ext cx="8064499" cy="4994275"/>
          </a:xfrm>
          <a:prstGeom prst="rect">
            <a:avLst/>
          </a:prstGeom>
        </p:spPr>
      </p:pic>
    </p:spTree>
    <p:extLst>
      <p:ext uri="{BB962C8B-B14F-4D97-AF65-F5344CB8AC3E}">
        <p14:creationId xmlns:p14="http://schemas.microsoft.com/office/powerpoint/2010/main" val="14592433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B2C3E-FBE3-746F-4605-9AB26726A41C}"/>
              </a:ext>
            </a:extLst>
          </p:cNvPr>
          <p:cNvSpPr>
            <a:spLocks noGrp="1"/>
          </p:cNvSpPr>
          <p:nvPr>
            <p:ph type="title"/>
          </p:nvPr>
        </p:nvSpPr>
        <p:spPr/>
        <p:txBody>
          <a:bodyPr/>
          <a:lstStyle/>
          <a:p>
            <a:r>
              <a:rPr lang="en-US" dirty="0"/>
              <a:t>Results</a:t>
            </a:r>
          </a:p>
        </p:txBody>
      </p:sp>
      <p:pic>
        <p:nvPicPr>
          <p:cNvPr id="13" name="Content Placeholder 12">
            <a:extLst>
              <a:ext uri="{FF2B5EF4-FFF2-40B4-BE49-F238E27FC236}">
                <a16:creationId xmlns:a16="http://schemas.microsoft.com/office/drawing/2014/main" id="{8D1B1C33-4494-285E-8079-55A6E3E3BCF5}"/>
              </a:ext>
            </a:extLst>
          </p:cNvPr>
          <p:cNvPicPr>
            <a:picLocks noGrp="1" noChangeAspect="1"/>
          </p:cNvPicPr>
          <p:nvPr>
            <p:ph idx="1"/>
          </p:nvPr>
        </p:nvPicPr>
        <p:blipFill>
          <a:blip r:embed="rId2"/>
          <a:stretch>
            <a:fillRect/>
          </a:stretch>
        </p:blipFill>
        <p:spPr>
          <a:xfrm>
            <a:off x="777837" y="2477606"/>
            <a:ext cx="3915543" cy="3678238"/>
          </a:xfrm>
          <a:prstGeom prst="rect">
            <a:avLst/>
          </a:prstGeom>
        </p:spPr>
      </p:pic>
      <p:pic>
        <p:nvPicPr>
          <p:cNvPr id="15" name="Picture 14">
            <a:extLst>
              <a:ext uri="{FF2B5EF4-FFF2-40B4-BE49-F238E27FC236}">
                <a16:creationId xmlns:a16="http://schemas.microsoft.com/office/drawing/2014/main" id="{C3A852F4-C4EF-51DD-33A9-30CAB79FE252}"/>
              </a:ext>
            </a:extLst>
          </p:cNvPr>
          <p:cNvPicPr>
            <a:picLocks noChangeAspect="1"/>
          </p:cNvPicPr>
          <p:nvPr/>
        </p:nvPicPr>
        <p:blipFill>
          <a:blip r:embed="rId3"/>
          <a:stretch>
            <a:fillRect/>
          </a:stretch>
        </p:blipFill>
        <p:spPr>
          <a:xfrm>
            <a:off x="5633544" y="2192470"/>
            <a:ext cx="4120268" cy="4144410"/>
          </a:xfrm>
          <a:prstGeom prst="rect">
            <a:avLst/>
          </a:prstGeom>
        </p:spPr>
      </p:pic>
    </p:spTree>
    <p:extLst>
      <p:ext uri="{BB962C8B-B14F-4D97-AF65-F5344CB8AC3E}">
        <p14:creationId xmlns:p14="http://schemas.microsoft.com/office/powerpoint/2010/main" val="682425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6C405-678C-30DB-72F4-A37315FC84F9}"/>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07847BFB-6D23-4571-8520-068B1C6F0B1C}"/>
              </a:ext>
            </a:extLst>
          </p:cNvPr>
          <p:cNvSpPr>
            <a:spLocks noGrp="1"/>
          </p:cNvSpPr>
          <p:nvPr>
            <p:ph idx="1"/>
          </p:nvPr>
        </p:nvSpPr>
        <p:spPr>
          <a:xfrm>
            <a:off x="581192" y="1907458"/>
            <a:ext cx="11029615" cy="3951341"/>
          </a:xfrm>
        </p:spPr>
        <p:txBody>
          <a:bodyPr>
            <a:normAutofit/>
          </a:bodyPr>
          <a:lstStyle/>
          <a:p>
            <a:pPr algn="just"/>
            <a:r>
              <a:rPr lang="en-US" sz="2000" dirty="0"/>
              <a:t>Credit card fraud detection is challenging due to extreme class imbalance in transaction datasets.</a:t>
            </a:r>
          </a:p>
          <a:p>
            <a:pPr algn="just"/>
            <a:r>
              <a:rPr lang="en-US" sz="2000" dirty="0"/>
              <a:t>CTGAN effectively generates realistic synthetic fraud samples to improve minority class representation.</a:t>
            </a:r>
          </a:p>
          <a:p>
            <a:pPr algn="just"/>
            <a:r>
              <a:rPr lang="en-US" sz="2000" dirty="0"/>
              <a:t>Augmenting the dataset with synthetic data enhances Random Forest model performance.</a:t>
            </a:r>
          </a:p>
          <a:p>
            <a:pPr algn="just"/>
            <a:r>
              <a:rPr lang="en-US" sz="2000" dirty="0"/>
              <a:t>Evaluation metrics such as ROC-AUC and confusion matrix show improved fraud detection capability.</a:t>
            </a:r>
          </a:p>
          <a:p>
            <a:pPr algn="just"/>
            <a:r>
              <a:rPr lang="en-US" sz="2000" dirty="0"/>
              <a:t>The proposed approach provides an efficient and practical solution for real-world fraud detection systems.</a:t>
            </a:r>
          </a:p>
          <a:p>
            <a:pPr algn="just"/>
            <a:r>
              <a:rPr lang="en-US" sz="2000" dirty="0"/>
              <a:t>Model achieved around ~</a:t>
            </a:r>
            <a:r>
              <a:rPr lang="en-US" sz="2000" b="1" dirty="0"/>
              <a:t>99%</a:t>
            </a:r>
            <a:r>
              <a:rPr lang="en-US" sz="2000" dirty="0"/>
              <a:t> accuracy.</a:t>
            </a:r>
          </a:p>
        </p:txBody>
      </p:sp>
    </p:spTree>
    <p:extLst>
      <p:ext uri="{BB962C8B-B14F-4D97-AF65-F5344CB8AC3E}">
        <p14:creationId xmlns:p14="http://schemas.microsoft.com/office/powerpoint/2010/main" val="1256434878"/>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TM03457464[[fn=Dividend]]</Template>
  <TotalTime>1022</TotalTime>
  <Words>684</Words>
  <Application>Microsoft Office PowerPoint</Application>
  <PresentationFormat>Widescreen</PresentationFormat>
  <Paragraphs>54</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Gill Sans MT</vt:lpstr>
      <vt:lpstr>Times New Roman</vt:lpstr>
      <vt:lpstr>Wingdings 2</vt:lpstr>
      <vt:lpstr>Dividend</vt:lpstr>
      <vt:lpstr> Credit Card Fraud Detection  using ctgan                         </vt:lpstr>
      <vt:lpstr>abstract</vt:lpstr>
      <vt:lpstr>INTRODUCTION</vt:lpstr>
      <vt:lpstr>Data set Description</vt:lpstr>
      <vt:lpstr>feature Analysis </vt:lpstr>
      <vt:lpstr>Methodology</vt:lpstr>
      <vt:lpstr>   </vt:lpstr>
      <vt:lpstr>Flow chart</vt:lpstr>
      <vt:lpstr>Results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Fraud Detection Using Machine Learning </dc:title>
  <dc:creator>Nahidul Islam</dc:creator>
  <cp:lastModifiedBy>pardhu sadhvik</cp:lastModifiedBy>
  <cp:revision>16</cp:revision>
  <dcterms:created xsi:type="dcterms:W3CDTF">2023-11-01T12:10:59Z</dcterms:created>
  <dcterms:modified xsi:type="dcterms:W3CDTF">2026-02-28T17:33:24Z</dcterms:modified>
</cp:coreProperties>
</file>